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for Career Coaching</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C431</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4 October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C431</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Your Workshop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900" b="1">
                <a:solidFill>
                  <a:srgbClr val="161B26"/>
                </a:solidFill>
                <a:latin typeface="Arial"/>
              </a:rPr>
              <a:t>Provider</a:t>
            </a:r>
          </a:p>
          <a:p>
            <a:pPr algn="l">
              <a:spcAft>
                <a:spcPts val="300"/>
              </a:spcAft>
            </a:pPr>
            <a:r>
              <a:rPr sz="1500" b="0">
                <a:solidFill>
                  <a:srgbClr val="5B6372"/>
                </a:solidFill>
                <a:latin typeface="Arial"/>
              </a:rPr>
              <a:t>Tertiary Infotech Academy Pte Ltd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900" b="1">
                <a:solidFill>
                  <a:srgbClr val="161B26"/>
                </a:solidFill>
                <a:latin typeface="Arial"/>
              </a:rPr>
              <a:t>Trainer</a:t>
            </a:r>
          </a:p>
          <a:p>
            <a:pPr algn="l">
              <a:spcAft>
                <a:spcPts val="300"/>
              </a:spcAft>
            </a:pPr>
            <a:r>
              <a:rPr sz="1500" b="0">
                <a:solidFill>
                  <a:srgbClr val="5B6372"/>
                </a:solidFill>
                <a:latin typeface="Arial"/>
              </a:rPr>
              <a:t>Assigned by the provider; confirm your class invitation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900" b="1">
                <a:solidFill>
                  <a:srgbClr val="161B26"/>
                </a:solidFill>
                <a:latin typeface="Arial"/>
              </a:rPr>
              <a:t>Format</a:t>
            </a:r>
          </a:p>
          <a:p>
            <a:pPr algn="l">
              <a:spcAft>
                <a:spcPts val="300"/>
              </a:spcAft>
            </a:pPr>
            <a:r>
              <a:rPr sz="1500" b="0">
                <a:solidFill>
                  <a:srgbClr val="5B6372"/>
                </a:solidFill>
                <a:latin typeface="Arial"/>
              </a:rPr>
              <a:t>Concepts, demonstrations and eight connected labs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900" b="1">
                <a:solidFill>
                  <a:srgbClr val="161B26"/>
                </a:solidFill>
                <a:latin typeface="Arial"/>
              </a:rPr>
              <a:t>Duration</a:t>
            </a:r>
          </a:p>
          <a:p>
            <a:pPr algn="l">
              <a:spcAft>
                <a:spcPts val="300"/>
              </a:spcAft>
            </a:pPr>
            <a:r>
              <a:rPr sz="1500" b="0">
                <a:solidFill>
                  <a:srgbClr val="5B6372"/>
                </a:solidFill>
                <a:latin typeface="Arial"/>
              </a:rPr>
              <a:t>1 day · 7.5 instructional hours · schedule A07</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 registration page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 material links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the current slides and guide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Course: tertiarycourses.com.sg/ai-for-career-coaching.html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Lesson Plan — One Day, 7.5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Morning · 9:30am–1:15pm</a:t>
            </a:r>
          </a:p>
          <a:p>
            <a:pPr>
              <a:spcAft>
                <a:spcPts val="1000"/>
              </a:spcAft>
            </a:pPr>
            <a:r>
              <a:rPr sz="1400" b="0">
                <a:solidFill>
                  <a:srgbClr val="5B6372"/>
                </a:solidFill>
                <a:latin typeface="Arial"/>
              </a:rPr>
              <a:t>–  Topic 1: Career Development Principles (Lab 1)</a:t>
            </a:r>
          </a:p>
          <a:p>
            <a:pPr>
              <a:spcAft>
                <a:spcPts val="1000"/>
              </a:spcAft>
            </a:pPr>
            <a:r>
              <a:rPr sz="1400" b="0">
                <a:solidFill>
                  <a:srgbClr val="5B6372"/>
                </a:solidFill>
                <a:latin typeface="Arial"/>
              </a:rPr>
              <a:t>–  Topic 2: Assess Employee Competencies (Labs 2–3)</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Afternoon · 2:15pm–6:30pm</a:t>
            </a:r>
          </a:p>
          <a:p>
            <a:pPr>
              <a:spcAft>
                <a:spcPts val="1000"/>
              </a:spcAft>
            </a:pPr>
            <a:r>
              <a:rPr sz="1400" b="0">
                <a:solidFill>
                  <a:srgbClr val="5B6372"/>
                </a:solidFill>
                <a:latin typeface="Arial"/>
              </a:rPr>
              <a:t>–  Topic 3: Career Management (Labs 4–6)</a:t>
            </a:r>
          </a:p>
          <a:p>
            <a:pPr>
              <a:spcAft>
                <a:spcPts val="1000"/>
              </a:spcAft>
            </a:pPr>
            <a:r>
              <a:rPr sz="1400" b="0">
                <a:solidFill>
                  <a:srgbClr val="5B6372"/>
                </a:solidFill>
                <a:latin typeface="Arial"/>
              </a:rPr>
              <a:t>–  Topic 4: Support Career Plan Implementation (Labs 7–8)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two 15-minute breaks outside instruction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Contract and coach</a:t>
            </a:r>
          </a:p>
          <a:p>
            <a:pPr algn="l">
              <a:spcAft>
                <a:spcPts val="300"/>
              </a:spcAft>
            </a:pPr>
            <a:r>
              <a:rPr sz="1300" b="0">
                <a:solidFill>
                  <a:srgbClr val="5B6372"/>
                </a:solidFill>
                <a:latin typeface="Arial"/>
              </a:rPr>
              <a:t>Conduct a consent-based career intake and use AI to draft neutral coaching questions.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Map skills and options</a:t>
            </a:r>
          </a:p>
          <a:p>
            <a:pPr algn="l">
              <a:spcAft>
                <a:spcPts val="300"/>
              </a:spcAft>
            </a:pPr>
            <a:r>
              <a:rPr sz="1300" b="0">
                <a:solidFill>
                  <a:srgbClr val="5B6372"/>
                </a:solidFill>
                <a:latin typeface="Arial"/>
              </a:rPr>
              <a:t>Map documented skills to role requirements and compare feasible career options.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Prepare and practise</a:t>
            </a:r>
          </a:p>
          <a:p>
            <a:pPr algn="l">
              <a:spcAft>
                <a:spcPts val="300"/>
              </a:spcAft>
            </a:pPr>
            <a:r>
              <a:rPr sz="1300" b="0">
                <a:solidFill>
                  <a:srgbClr val="5B6372"/>
                </a:solidFill>
                <a:latin typeface="Arial"/>
              </a:rPr>
              <a:t>Create truthful application materials and rehearse evidence-based interview responses.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Implement and review</a:t>
            </a:r>
          </a:p>
          <a:p>
            <a:pPr algn="l">
              <a:spcAft>
                <a:spcPts val="300"/>
              </a:spcAft>
            </a:pPr>
            <a:r>
              <a:rPr sz="1300" b="0">
                <a:solidFill>
                  <a:srgbClr val="5B6372"/>
                </a:solidFill>
                <a:latin typeface="Arial"/>
              </a:rPr>
              <a:t>Design a client-owned career action plan and review progress using appropriate indicators.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Career Development Principles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Human judgement · evidence · practical AI support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Career coaching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Purpose</a:t>
            </a:r>
          </a:p>
          <a:p>
            <a:pPr algn="l">
              <a:spcAft>
                <a:spcPts val="300"/>
              </a:spcAft>
            </a:pPr>
            <a:r>
              <a:rPr sz="1600" b="0">
                <a:solidFill>
                  <a:srgbClr val="5B6372"/>
                </a:solidFill>
                <a:latin typeface="Arial"/>
              </a:rPr>
              <a:t>Explore a decision the client owns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Scope</a:t>
            </a:r>
          </a:p>
          <a:p>
            <a:pPr algn="l">
              <a:spcAft>
                <a:spcPts val="300"/>
              </a:spcAft>
            </a:pPr>
            <a:r>
              <a:rPr sz="1600" b="0">
                <a:solidFill>
                  <a:srgbClr val="5B6372"/>
                </a:solidFill>
                <a:latin typeface="Arial"/>
              </a:rPr>
              <a:t>Agree goals, boundaries and success evidence</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Review</a:t>
            </a:r>
          </a:p>
          <a:p>
            <a:pPr algn="l">
              <a:spcAft>
                <a:spcPts val="300"/>
              </a:spcAft>
            </a:pPr>
            <a:r>
              <a:rPr sz="1600" b="0">
                <a:solidFill>
                  <a:srgbClr val="5B6372"/>
                </a:solidFill>
                <a:latin typeface="Arial"/>
              </a:rPr>
              <a:t>Confirm what may be recorded or shared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Coach, client and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Client</a:t>
            </a:r>
          </a:p>
          <a:p>
            <a:pPr algn="l">
              <a:spcAft>
                <a:spcPts val="300"/>
              </a:spcAft>
            </a:pPr>
            <a:r>
              <a:rPr sz="1600" b="0">
                <a:solidFill>
                  <a:srgbClr val="5B6372"/>
                </a:solidFill>
                <a:latin typeface="Arial"/>
              </a:rPr>
              <a:t>Chooses priorities and final actions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Coach</a:t>
            </a:r>
          </a:p>
          <a:p>
            <a:pPr algn="l">
              <a:spcAft>
                <a:spcPts val="300"/>
              </a:spcAft>
            </a:pPr>
            <a:r>
              <a:rPr sz="1600" b="0">
                <a:solidFill>
                  <a:srgbClr val="5B6372"/>
                </a:solidFill>
                <a:latin typeface="Arial"/>
              </a:rPr>
              <a:t>Listens, challenges and checks context</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AI</a:t>
            </a:r>
          </a:p>
          <a:p>
            <a:pPr algn="l">
              <a:spcAft>
                <a:spcPts val="300"/>
              </a:spcAft>
            </a:pPr>
            <a:r>
              <a:rPr sz="1600" b="0">
                <a:solidFill>
                  <a:srgbClr val="5B6372"/>
                </a:solidFill>
                <a:latin typeface="Arial"/>
              </a:rPr>
              <a:t>Drafts questions and organizes supplied evidence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FRAMEWORK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GROW conversation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Goal: define the desired change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Reality: describe evidence and constraints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Options: explore several feasible paths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Will: choose a dated next action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Goal versus solution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Premature</a:t>
            </a:r>
          </a:p>
          <a:p>
            <a:pPr algn="l">
              <a:spcAft>
                <a:spcPts val="300"/>
              </a:spcAft>
            </a:pPr>
            <a:r>
              <a:rPr sz="1600" b="0">
                <a:solidFill>
                  <a:srgbClr val="5B6372"/>
                </a:solidFill>
                <a:latin typeface="Arial"/>
              </a:rPr>
              <a:t>You should become a data analyst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Coaching</a:t>
            </a:r>
          </a:p>
          <a:p>
            <a:pPr algn="l">
              <a:spcAft>
                <a:spcPts val="300"/>
              </a:spcAft>
            </a:pPr>
            <a:r>
              <a:rPr sz="1600" b="0">
                <a:solidFill>
                  <a:srgbClr val="5B6372"/>
                </a:solidFill>
                <a:latin typeface="Arial"/>
              </a:rPr>
              <a:t>What would a satisfying working week look like?</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Evidence</a:t>
            </a:r>
          </a:p>
          <a:p>
            <a:pPr algn="l">
              <a:spcAft>
                <a:spcPts val="300"/>
              </a:spcAft>
            </a:pPr>
            <a:r>
              <a:rPr sz="1600" b="0">
                <a:solidFill>
                  <a:srgbClr val="5B6372"/>
                </a:solidFill>
                <a:latin typeface="Arial"/>
              </a:rPr>
              <a:t>Test interest with a small project first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Career interests are hypotheses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Interests</a:t>
            </a:r>
          </a:p>
          <a:p>
            <a:pPr algn="l">
              <a:spcAft>
                <a:spcPts val="300"/>
              </a:spcAft>
            </a:pPr>
            <a:r>
              <a:rPr sz="1600" b="0">
                <a:solidFill>
                  <a:srgbClr val="5B6372"/>
                </a:solidFill>
                <a:latin typeface="Arial"/>
              </a:rPr>
              <a:t>Activities that energize the client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Values</a:t>
            </a:r>
          </a:p>
          <a:p>
            <a:pPr algn="l">
              <a:spcAft>
                <a:spcPts val="300"/>
              </a:spcAft>
            </a:pPr>
            <a:r>
              <a:rPr sz="1600" b="0">
                <a:solidFill>
                  <a:srgbClr val="5B6372"/>
                </a:solidFill>
                <a:latin typeface="Arial"/>
              </a:rPr>
              <a:t>Conditions the client will protect</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Constraints</a:t>
            </a:r>
          </a:p>
          <a:p>
            <a:pPr algn="l">
              <a:spcAft>
                <a:spcPts val="300"/>
              </a:spcAft>
            </a:pPr>
            <a:r>
              <a:rPr sz="1600" b="0">
                <a:solidFill>
                  <a:srgbClr val="5B6372"/>
                </a:solidFill>
                <a:latin typeface="Arial"/>
              </a:rPr>
              <a:t>Time, location and available resources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Transferable career capital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Experience</a:t>
            </a:r>
          </a:p>
          <a:p>
            <a:pPr algn="l">
              <a:spcAft>
                <a:spcPts val="300"/>
              </a:spcAft>
            </a:pPr>
            <a:r>
              <a:rPr sz="1600" b="0">
                <a:solidFill>
                  <a:srgbClr val="5B6372"/>
                </a:solidFill>
                <a:latin typeface="Arial"/>
              </a:rPr>
              <a:t>Describe tasks and outcomes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Skills</a:t>
            </a:r>
          </a:p>
          <a:p>
            <a:pPr algn="l">
              <a:spcAft>
                <a:spcPts val="300"/>
              </a:spcAft>
            </a:pPr>
            <a:r>
              <a:rPr sz="1600" b="0">
                <a:solidFill>
                  <a:srgbClr val="5B6372"/>
                </a:solidFill>
                <a:latin typeface="Arial"/>
              </a:rPr>
              <a:t>Identify capabilities behind those outcomes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Transfer</a:t>
            </a:r>
          </a:p>
          <a:p>
            <a:pPr algn="l">
              <a:spcAft>
                <a:spcPts val="300"/>
              </a:spcAft>
            </a:pPr>
            <a:r>
              <a:rPr sz="1600" b="0">
                <a:solidFill>
                  <a:srgbClr val="5B6372"/>
                </a:solidFill>
                <a:latin typeface="Arial"/>
              </a:rPr>
              <a:t>Connect them to a different work context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 useful intake question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Open</a:t>
            </a:r>
          </a:p>
          <a:p>
            <a:pPr algn="l">
              <a:spcAft>
                <a:spcPts val="300"/>
              </a:spcAft>
            </a:pPr>
            <a:r>
              <a:rPr sz="1600" b="0">
                <a:solidFill>
                  <a:srgbClr val="5B6372"/>
                </a:solidFill>
                <a:latin typeface="Arial"/>
              </a:rPr>
              <a:t>What has changed in your work recently?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Specific</a:t>
            </a:r>
          </a:p>
          <a:p>
            <a:pPr algn="l">
              <a:spcAft>
                <a:spcPts val="300"/>
              </a:spcAft>
            </a:pPr>
            <a:r>
              <a:rPr sz="1600" b="0">
                <a:solidFill>
                  <a:srgbClr val="5B6372"/>
                </a:solidFill>
                <a:latin typeface="Arial"/>
              </a:rPr>
              <a:t>Which tasks do you enjoy and why?</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Neutral</a:t>
            </a:r>
          </a:p>
          <a:p>
            <a:pPr algn="l">
              <a:spcAft>
                <a:spcPts val="300"/>
              </a:spcAft>
            </a:pPr>
            <a:r>
              <a:rPr sz="1600" b="0">
                <a:solidFill>
                  <a:srgbClr val="5B6372"/>
                </a:solidFill>
                <a:latin typeface="Arial"/>
              </a:rPr>
              <a:t>What options would you like to explore?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FRAMEWORK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Consent before AI 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Explain the tool and intended purpose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Offer a conversation without AI</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Remove identifiers and unnecessary detail</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Agree who reviews and retains the output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Minimum necessary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Keep</a:t>
            </a:r>
          </a:p>
          <a:p>
            <a:pPr algn="l">
              <a:spcAft>
                <a:spcPts val="300"/>
              </a:spcAft>
            </a:pPr>
            <a:r>
              <a:rPr sz="1600" b="0">
                <a:solidFill>
                  <a:srgbClr val="5B6372"/>
                </a:solidFill>
                <a:latin typeface="Arial"/>
              </a:rPr>
              <a:t>Task evidence and stated preferences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Remove</a:t>
            </a:r>
          </a:p>
          <a:p>
            <a:pPr algn="l">
              <a:spcAft>
                <a:spcPts val="300"/>
              </a:spcAft>
            </a:pPr>
            <a:r>
              <a:rPr sz="1600" b="0">
                <a:solidFill>
                  <a:srgbClr val="5B6372"/>
                </a:solidFill>
                <a:latin typeface="Arial"/>
              </a:rPr>
              <a:t>Names, contact details and client IDs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Separate</a:t>
            </a:r>
          </a:p>
          <a:p>
            <a:pPr algn="l">
              <a:spcAft>
                <a:spcPts val="300"/>
              </a:spcAft>
            </a:pPr>
            <a:r>
              <a:rPr sz="1600" b="0">
                <a:solidFill>
                  <a:srgbClr val="5B6372"/>
                </a:solidFill>
                <a:latin typeface="Arial"/>
              </a:rPr>
              <a:t>Sensitive notes from the AI working brief</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FRAMEWORK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Prompt design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Role: support a career coach</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Context: use the supplied synthetic brief</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Task: ask neutral exploratory questions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Limits: do not invent facts or decide for the client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Evidence, inference and unknown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Evidence</a:t>
            </a:r>
          </a:p>
          <a:p>
            <a:pPr algn="l">
              <a:spcAft>
                <a:spcPts val="300"/>
              </a:spcAft>
            </a:pPr>
            <a:r>
              <a:rPr sz="1600" b="0">
                <a:solidFill>
                  <a:srgbClr val="5B6372"/>
                </a:solidFill>
                <a:latin typeface="Arial"/>
              </a:rPr>
              <a:t>Client reports coordinating 12 shifts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Inference</a:t>
            </a:r>
          </a:p>
          <a:p>
            <a:pPr algn="l">
              <a:spcAft>
                <a:spcPts val="300"/>
              </a:spcAft>
            </a:pPr>
            <a:r>
              <a:rPr sz="1600" b="0">
                <a:solidFill>
                  <a:srgbClr val="5B6372"/>
                </a:solidFill>
                <a:latin typeface="Arial"/>
              </a:rPr>
              <a:t>May have scheduling capability</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UNKNOWN</a:t>
            </a:r>
          </a:p>
          <a:p>
            <a:pPr algn="l">
              <a:spcAft>
                <a:spcPts val="300"/>
              </a:spcAft>
            </a:pPr>
            <a:r>
              <a:rPr sz="1600" b="0">
                <a:solidFill>
                  <a:srgbClr val="5B6372"/>
                </a:solidFill>
                <a:latin typeface="Arial"/>
              </a:rPr>
              <a:t>No evidence yet of workforce analytics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When an AI answer feels certain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Claim</a:t>
            </a:r>
          </a:p>
          <a:p>
            <a:pPr algn="l">
              <a:spcAft>
                <a:spcPts val="300"/>
              </a:spcAft>
            </a:pPr>
            <a:r>
              <a:rPr sz="1600" b="0">
                <a:solidFill>
                  <a:srgbClr val="5B6372"/>
                </a:solidFill>
                <a:latin typeface="Arial"/>
              </a:rPr>
              <a:t>This is your ideal career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Challenge</a:t>
            </a:r>
          </a:p>
          <a:p>
            <a:pPr algn="l">
              <a:spcAft>
                <a:spcPts val="300"/>
              </a:spcAft>
            </a:pPr>
            <a:r>
              <a:rPr sz="1600" b="0">
                <a:solidFill>
                  <a:srgbClr val="5B6372"/>
                </a:solidFill>
                <a:latin typeface="Arial"/>
              </a:rPr>
              <a:t>Which supplied evidence supports it?</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Repair</a:t>
            </a:r>
          </a:p>
          <a:p>
            <a:pPr algn="l">
              <a:spcAft>
                <a:spcPts val="300"/>
              </a:spcAft>
            </a:pPr>
            <a:r>
              <a:rPr sz="1600" b="0">
                <a:solidFill>
                  <a:srgbClr val="5B6372"/>
                </a:solidFill>
                <a:latin typeface="Arial"/>
              </a:rPr>
              <a:t>Present options and unresolved questions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Tool selection by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General assistant</a:t>
            </a:r>
          </a:p>
          <a:p>
            <a:pPr algn="l">
              <a:spcAft>
                <a:spcPts val="300"/>
              </a:spcAft>
            </a:pPr>
            <a:r>
              <a:rPr sz="1600" b="0">
                <a:solidFill>
                  <a:srgbClr val="5B6372"/>
                </a:solidFill>
                <a:latin typeface="Arial"/>
              </a:rPr>
              <a:t>Draft and critique with provided context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Career product</a:t>
            </a:r>
          </a:p>
          <a:p>
            <a:pPr algn="l">
              <a:spcAft>
                <a:spcPts val="300"/>
              </a:spcAft>
            </a:pPr>
            <a:r>
              <a:rPr sz="1600" b="0">
                <a:solidFill>
                  <a:srgbClr val="5B6372"/>
                </a:solidFill>
                <a:latin typeface="Arial"/>
              </a:rPr>
              <a:t>Explore advertised coaching workflows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Human coach</a:t>
            </a:r>
          </a:p>
          <a:p>
            <a:pPr algn="l">
              <a:spcAft>
                <a:spcPts val="300"/>
              </a:spcAft>
            </a:pPr>
            <a:r>
              <a:rPr sz="1600" b="0">
                <a:solidFill>
                  <a:srgbClr val="5B6372"/>
                </a:solidFill>
                <a:latin typeface="Arial"/>
              </a:rPr>
              <a:t>Resolve nuance and own decisions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Worked intake: Mei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Situation</a:t>
            </a:r>
          </a:p>
          <a:p>
            <a:pPr algn="l">
              <a:spcAft>
                <a:spcPts val="300"/>
              </a:spcAft>
            </a:pPr>
            <a:r>
              <a:rPr sz="1600" b="0">
                <a:solidFill>
                  <a:srgbClr val="5B6372"/>
                </a:solidFill>
                <a:latin typeface="Arial"/>
              </a:rPr>
              <a:t>Retail supervisor exploring weekday 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Evidence</a:t>
            </a:r>
          </a:p>
          <a:p>
            <a:pPr algn="l">
              <a:spcAft>
                <a:spcPts val="300"/>
              </a:spcAft>
            </a:pPr>
            <a:r>
              <a:rPr sz="1600" b="0">
                <a:solidFill>
                  <a:srgbClr val="5B6372"/>
                </a:solidFill>
                <a:latin typeface="Arial"/>
              </a:rPr>
              <a:t>Shift planning and customer recovery</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Question</a:t>
            </a:r>
          </a:p>
          <a:p>
            <a:pPr algn="l">
              <a:spcAft>
                <a:spcPts val="300"/>
              </a:spcAft>
            </a:pPr>
            <a:r>
              <a:rPr sz="1600" b="0">
                <a:solidFill>
                  <a:srgbClr val="5B6372"/>
                </a:solidFill>
                <a:latin typeface="Arial"/>
              </a:rPr>
              <a:t>What trade-offs are acceptable during a transition?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Topic 1 decision check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Purpose</a:t>
            </a:r>
          </a:p>
          <a:p>
            <a:pPr algn="l">
              <a:spcAft>
                <a:spcPts val="300"/>
              </a:spcAft>
            </a:pPr>
            <a:r>
              <a:rPr sz="1600" b="0">
                <a:solidFill>
                  <a:srgbClr val="5B6372"/>
                </a:solidFill>
                <a:latin typeface="Arial"/>
              </a:rPr>
              <a:t>Is the goal expressed in the client’s words?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Consent</a:t>
            </a:r>
          </a:p>
          <a:p>
            <a:pPr algn="l">
              <a:spcAft>
                <a:spcPts val="300"/>
              </a:spcAft>
            </a:pPr>
            <a:r>
              <a:rPr sz="1600" b="0">
                <a:solidFill>
                  <a:srgbClr val="5B6372"/>
                </a:solidFill>
                <a:latin typeface="Arial"/>
              </a:rPr>
              <a:t>Can the client decline AI use?</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Boundary</a:t>
            </a:r>
          </a:p>
          <a:p>
            <a:pPr algn="l">
              <a:spcAft>
                <a:spcPts val="300"/>
              </a:spcAft>
            </a:pPr>
            <a:r>
              <a:rPr sz="1600" b="0">
                <a:solidFill>
                  <a:srgbClr val="5B6372"/>
                </a:solidFill>
                <a:latin typeface="Arial"/>
              </a:rPr>
              <a:t>Can every output be reviewed by a coach?</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Consent-Based Career Intake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At fictional Northstar Career Studio, you support Mei’s career transition. Draft a coaching agreement and five neutral intake questions. You will connect the output to the next coaching task, inspect AI assumptions and keep the client in control. The completed artifact is intake-brief.md, ready for a human coaching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Draft a coaching agreement and five neutral intake questions. Save intake-brief.md.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Approved conversational AI, document editor and supplied synthetic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Consent-Based Career Intake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Intake brief contains a client-owned goal, AI consent choice, five neutral questions and three UNKNOWN items.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Recap — Career Development Principles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LO1: Conduct a consent-based career intake and use AI to draft neutral coaching questions.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Assess Employee Competencies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Human judgement · evidence · practical AI support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Competency is demonstrated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Claim</a:t>
            </a:r>
          </a:p>
          <a:p>
            <a:pPr algn="l">
              <a:spcAft>
                <a:spcPts val="300"/>
              </a:spcAft>
            </a:pPr>
            <a:r>
              <a:rPr sz="1600" b="0">
                <a:solidFill>
                  <a:srgbClr val="5B6372"/>
                </a:solidFill>
                <a:latin typeface="Arial"/>
              </a:rPr>
              <a:t>Good communication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Behavior</a:t>
            </a:r>
          </a:p>
          <a:p>
            <a:pPr algn="l">
              <a:spcAft>
                <a:spcPts val="300"/>
              </a:spcAft>
            </a:pPr>
            <a:r>
              <a:rPr sz="1600" b="0">
                <a:solidFill>
                  <a:srgbClr val="5B6372"/>
                </a:solidFill>
                <a:latin typeface="Arial"/>
              </a:rPr>
              <a:t>Explains shift changes to a team</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Evidence</a:t>
            </a:r>
          </a:p>
          <a:p>
            <a:pPr algn="l">
              <a:spcAft>
                <a:spcPts val="300"/>
              </a:spcAft>
            </a:pPr>
            <a:r>
              <a:rPr sz="1600" b="0">
                <a:solidFill>
                  <a:srgbClr val="5B6372"/>
                </a:solidFill>
                <a:latin typeface="Arial"/>
              </a:rPr>
              <a:t>Meeting notes and a documented outcome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FRAMEWORK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Evidence ladder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Self-report: useful starting point</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Work sample: observable task output</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Outcome: result with context and source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Corroboration: an authorized supporting record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Skill inventory schema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Skill</a:t>
            </a:r>
          </a:p>
          <a:p>
            <a:pPr algn="l">
              <a:spcAft>
                <a:spcPts val="300"/>
              </a:spcAft>
            </a:pPr>
            <a:r>
              <a:rPr sz="1600" b="0">
                <a:solidFill>
                  <a:srgbClr val="5B6372"/>
                </a:solidFill>
                <a:latin typeface="Arial"/>
              </a:rPr>
              <a:t>Use a specific action verb</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Evidence</a:t>
            </a:r>
          </a:p>
          <a:p>
            <a:pPr algn="l">
              <a:spcAft>
                <a:spcPts val="300"/>
              </a:spcAft>
            </a:pPr>
            <a:r>
              <a:rPr sz="1600" b="0">
                <a:solidFill>
                  <a:srgbClr val="5B6372"/>
                </a:solidFill>
                <a:latin typeface="Arial"/>
              </a:rPr>
              <a:t>Record the task and source ID</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Confidence</a:t>
            </a:r>
          </a:p>
          <a:p>
            <a:pPr algn="l">
              <a:spcAft>
                <a:spcPts val="300"/>
              </a:spcAft>
            </a:pPr>
            <a:r>
              <a:rPr sz="1600" b="0">
                <a:solidFill>
                  <a:srgbClr val="5B6372"/>
                </a:solidFill>
                <a:latin typeface="Arial"/>
              </a:rPr>
              <a:t>Separate supported and unverified claims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Skills versus credentials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Skill</a:t>
            </a:r>
          </a:p>
          <a:p>
            <a:pPr algn="l">
              <a:spcAft>
                <a:spcPts val="300"/>
              </a:spcAft>
            </a:pPr>
            <a:r>
              <a:rPr sz="1600" b="0">
                <a:solidFill>
                  <a:srgbClr val="5B6372"/>
                </a:solidFill>
                <a:latin typeface="Arial"/>
              </a:rPr>
              <a:t>Can create a pivot table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Credential</a:t>
            </a:r>
          </a:p>
          <a:p>
            <a:pPr algn="l">
              <a:spcAft>
                <a:spcPts val="300"/>
              </a:spcAft>
            </a:pPr>
            <a:r>
              <a:rPr sz="1600" b="0">
                <a:solidFill>
                  <a:srgbClr val="5B6372"/>
                </a:solidFill>
                <a:latin typeface="Arial"/>
              </a:rPr>
              <a:t>Completed spreadsheet training</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Gap</a:t>
            </a:r>
          </a:p>
          <a:p>
            <a:pPr algn="l">
              <a:spcAft>
                <a:spcPts val="300"/>
              </a:spcAft>
            </a:pPr>
            <a:r>
              <a:rPr sz="1600" b="0">
                <a:solidFill>
                  <a:srgbClr val="5B6372"/>
                </a:solidFill>
                <a:latin typeface="Arial"/>
              </a:rPr>
              <a:t>No work sample proving independent use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Worked skill extraction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S1</a:t>
            </a:r>
          </a:p>
          <a:p>
            <a:pPr algn="l">
              <a:spcAft>
                <a:spcPts val="300"/>
              </a:spcAft>
            </a:pPr>
            <a:r>
              <a:rPr sz="1600" b="0">
                <a:solidFill>
                  <a:srgbClr val="5B6372"/>
                </a:solidFill>
                <a:latin typeface="Arial"/>
              </a:rPr>
              <a:t>Planned rotas for 12 staff</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Skill</a:t>
            </a:r>
          </a:p>
          <a:p>
            <a:pPr algn="l">
              <a:spcAft>
                <a:spcPts val="300"/>
              </a:spcAft>
            </a:pPr>
            <a:r>
              <a:rPr sz="1600" b="0">
                <a:solidFill>
                  <a:srgbClr val="5B6372"/>
                </a:solidFill>
                <a:latin typeface="Arial"/>
              </a:rPr>
              <a:t>Scheduling and resource coordination</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Limit</a:t>
            </a:r>
          </a:p>
          <a:p>
            <a:pPr algn="l">
              <a:spcAft>
                <a:spcPts val="300"/>
              </a:spcAft>
            </a:pPr>
            <a:r>
              <a:rPr sz="1600" b="0">
                <a:solidFill>
                  <a:srgbClr val="5B6372"/>
                </a:solidFill>
                <a:latin typeface="Arial"/>
              </a:rPr>
              <a:t>Do not infer advanced workforce modeling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Role requirement decomposition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Must-have</a:t>
            </a:r>
          </a:p>
          <a:p>
            <a:pPr algn="l">
              <a:spcAft>
                <a:spcPts val="300"/>
              </a:spcAft>
            </a:pPr>
            <a:r>
              <a:rPr sz="1600" b="0">
                <a:solidFill>
                  <a:srgbClr val="5B6372"/>
                </a:solidFill>
                <a:latin typeface="Arial"/>
              </a:rPr>
              <a:t>Required work capability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Preference</a:t>
            </a:r>
          </a:p>
          <a:p>
            <a:pPr algn="l">
              <a:spcAft>
                <a:spcPts val="300"/>
              </a:spcAft>
            </a:pPr>
            <a:r>
              <a:rPr sz="1600" b="0">
                <a:solidFill>
                  <a:srgbClr val="5B6372"/>
                </a:solidFill>
                <a:latin typeface="Arial"/>
              </a:rPr>
              <a:t>Useful but negotiable experience</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Context</a:t>
            </a:r>
          </a:p>
          <a:p>
            <a:pPr algn="l">
              <a:spcAft>
                <a:spcPts val="300"/>
              </a:spcAft>
            </a:pPr>
            <a:r>
              <a:rPr sz="1600" b="0">
                <a:solidFill>
                  <a:srgbClr val="5B6372"/>
                </a:solidFill>
                <a:latin typeface="Arial"/>
              </a:rPr>
              <a:t>Schedule, location and reporting duties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FRAMEWORK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Evidence-to-requirement mapping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Read each role requirement</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Find a directly relevant evidence ID</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Explain transferability and limitations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Mark missing support as UNKNOWN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Gap priority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Urgency</a:t>
            </a:r>
          </a:p>
          <a:p>
            <a:pPr algn="l">
              <a:spcAft>
                <a:spcPts val="300"/>
              </a:spcAft>
            </a:pPr>
            <a:r>
              <a:rPr sz="1600" b="0">
                <a:solidFill>
                  <a:srgbClr val="5B6372"/>
                </a:solidFill>
                <a:latin typeface="Arial"/>
              </a:rPr>
              <a:t>Does the role require it now?</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Impact</a:t>
            </a:r>
          </a:p>
          <a:p>
            <a:pPr algn="l">
              <a:spcAft>
                <a:spcPts val="300"/>
              </a:spcAft>
            </a:pPr>
            <a:r>
              <a:rPr sz="1600" b="0">
                <a:solidFill>
                  <a:srgbClr val="5B6372"/>
                </a:solidFill>
                <a:latin typeface="Arial"/>
              </a:rPr>
              <a:t>Would it unlock an important task?</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Feasibility</a:t>
            </a:r>
          </a:p>
          <a:p>
            <a:pPr algn="l">
              <a:spcAft>
                <a:spcPts val="300"/>
              </a:spcAft>
            </a:pPr>
            <a:r>
              <a:rPr sz="1600" b="0">
                <a:solidFill>
                  <a:srgbClr val="5B6372"/>
                </a:solidFill>
                <a:latin typeface="Arial"/>
              </a:rPr>
              <a:t>Can the client practise it soon?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 gap is a learning question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Vague</a:t>
            </a:r>
          </a:p>
          <a:p>
            <a:pPr algn="l">
              <a:spcAft>
                <a:spcPts val="300"/>
              </a:spcAft>
            </a:pPr>
            <a:r>
              <a:rPr sz="1600" b="0">
                <a:solidFill>
                  <a:srgbClr val="5B6372"/>
                </a:solidFill>
                <a:latin typeface="Arial"/>
              </a:rPr>
              <a:t>Improve analytics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Specific</a:t>
            </a:r>
          </a:p>
          <a:p>
            <a:pPr algn="l">
              <a:spcAft>
                <a:spcPts val="300"/>
              </a:spcAft>
            </a:pPr>
            <a:r>
              <a:rPr sz="1600" b="0">
                <a:solidFill>
                  <a:srgbClr val="5B6372"/>
                </a:solidFill>
                <a:latin typeface="Arial"/>
              </a:rPr>
              <a:t>Build a weekly sales pivot table</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Proof</a:t>
            </a:r>
          </a:p>
          <a:p>
            <a:pPr algn="l">
              <a:spcAft>
                <a:spcPts val="300"/>
              </a:spcAft>
            </a:pPr>
            <a:r>
              <a:rPr sz="1600" b="0">
                <a:solidFill>
                  <a:srgbClr val="5B6372"/>
                </a:solidFill>
                <a:latin typeface="Arial"/>
              </a:rPr>
              <a:t>Explain the trend and check the totals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Compare three paths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Adjacent</a:t>
            </a:r>
          </a:p>
          <a:p>
            <a:pPr algn="l">
              <a:spcAft>
                <a:spcPts val="300"/>
              </a:spcAft>
            </a:pPr>
            <a:r>
              <a:rPr sz="1600" b="0">
                <a:solidFill>
                  <a:srgbClr val="5B6372"/>
                </a:solidFill>
                <a:latin typeface="Arial"/>
              </a:rPr>
              <a:t>Operations coordinator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Bridge</a:t>
            </a:r>
          </a:p>
          <a:p>
            <a:pPr algn="l">
              <a:spcAft>
                <a:spcPts val="300"/>
              </a:spcAft>
            </a:pPr>
            <a:r>
              <a:rPr sz="1600" b="0">
                <a:solidFill>
                  <a:srgbClr val="5B6372"/>
                </a:solidFill>
                <a:latin typeface="Arial"/>
              </a:rPr>
              <a:t>Customer success associate</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Stretch</a:t>
            </a:r>
          </a:p>
          <a:p>
            <a:pPr algn="l">
              <a:spcAft>
                <a:spcPts val="300"/>
              </a:spcAft>
            </a:pPr>
            <a:r>
              <a:rPr sz="1600" b="0">
                <a:solidFill>
                  <a:srgbClr val="5B6372"/>
                </a:solidFill>
                <a:latin typeface="Arial"/>
              </a:rPr>
              <a:t>Junior business analyst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Weighted option comparison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Criteria</a:t>
            </a:r>
          </a:p>
          <a:p>
            <a:pPr algn="l">
              <a:spcAft>
                <a:spcPts val="300"/>
              </a:spcAft>
            </a:pPr>
            <a:r>
              <a:rPr sz="1600" b="0">
                <a:solidFill>
                  <a:srgbClr val="5B6372"/>
                </a:solidFill>
                <a:latin typeface="Arial"/>
              </a:rPr>
              <a:t>Interest, evidence, access and constraints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Weights</a:t>
            </a:r>
          </a:p>
          <a:p>
            <a:pPr algn="l">
              <a:spcAft>
                <a:spcPts val="300"/>
              </a:spcAft>
            </a:pPr>
            <a:r>
              <a:rPr sz="1600" b="0">
                <a:solidFill>
                  <a:srgbClr val="5B6372"/>
                </a:solidFill>
                <a:latin typeface="Arial"/>
              </a:rPr>
              <a:t>Client chooses importance before scoring</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Review</a:t>
            </a:r>
          </a:p>
          <a:p>
            <a:pPr algn="l">
              <a:spcAft>
                <a:spcPts val="300"/>
              </a:spcAft>
            </a:pPr>
            <a:r>
              <a:rPr sz="1600" b="0">
                <a:solidFill>
                  <a:srgbClr val="5B6372"/>
                </a:solidFill>
                <a:latin typeface="Arial"/>
              </a:rPr>
              <a:t>Vary one weight and discuss changed rankings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Scores are discussion aids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Useful</a:t>
            </a:r>
          </a:p>
          <a:p>
            <a:pPr algn="l">
              <a:spcAft>
                <a:spcPts val="300"/>
              </a:spcAft>
            </a:pPr>
            <a:r>
              <a:rPr sz="1600" b="0">
                <a:solidFill>
                  <a:srgbClr val="5B6372"/>
                </a:solidFill>
                <a:latin typeface="Arial"/>
              </a:rPr>
              <a:t>Expose trade-offs consistently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Risk</a:t>
            </a:r>
          </a:p>
          <a:p>
            <a:pPr algn="l">
              <a:spcAft>
                <a:spcPts val="300"/>
              </a:spcAft>
            </a:pPr>
            <a:r>
              <a:rPr sz="1600" b="0">
                <a:solidFill>
                  <a:srgbClr val="5B6372"/>
                </a:solidFill>
                <a:latin typeface="Arial"/>
              </a:rPr>
              <a:t>Numbers imply certainty without evidence</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Repair</a:t>
            </a:r>
          </a:p>
          <a:p>
            <a:pPr algn="l">
              <a:spcAft>
                <a:spcPts val="300"/>
              </a:spcAft>
            </a:pPr>
            <a:r>
              <a:rPr sz="1600" b="0">
                <a:solidFill>
                  <a:srgbClr val="5B6372"/>
                </a:solidFill>
                <a:latin typeface="Arial"/>
              </a:rPr>
              <a:t>Keep assumptions beside every score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FRAMEWORK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Market research provenance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Record the employer source and date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Check that the opening is still active</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Separate requirements from marketing language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Never invent salaries or vacancy counts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Internal mobility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Employee</a:t>
            </a:r>
          </a:p>
          <a:p>
            <a:pPr algn="l">
              <a:spcAft>
                <a:spcPts val="300"/>
              </a:spcAft>
            </a:pPr>
            <a:r>
              <a:rPr sz="1600" b="0">
                <a:solidFill>
                  <a:srgbClr val="5B6372"/>
                </a:solidFill>
                <a:latin typeface="Arial"/>
              </a:rPr>
              <a:t>Expresses interests and preferences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HR</a:t>
            </a:r>
          </a:p>
          <a:p>
            <a:pPr algn="l">
              <a:spcAft>
                <a:spcPts val="300"/>
              </a:spcAft>
            </a:pPr>
            <a:r>
              <a:rPr sz="1600" b="0">
                <a:solidFill>
                  <a:srgbClr val="5B6372"/>
                </a:solidFill>
                <a:latin typeface="Arial"/>
              </a:rPr>
              <a:t>Confirms eligibility and opportunities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Manager</a:t>
            </a:r>
          </a:p>
          <a:p>
            <a:pPr algn="l">
              <a:spcAft>
                <a:spcPts val="300"/>
              </a:spcAft>
            </a:pPr>
            <a:r>
              <a:rPr sz="1600" b="0">
                <a:solidFill>
                  <a:srgbClr val="5B6372"/>
                </a:solidFill>
                <a:latin typeface="Arial"/>
              </a:rPr>
              <a:t>Discusses release time and stretch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Topic 2 decision check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Evidence</a:t>
            </a:r>
          </a:p>
          <a:p>
            <a:pPr algn="l">
              <a:spcAft>
                <a:spcPts val="300"/>
              </a:spcAft>
            </a:pPr>
            <a:r>
              <a:rPr sz="1600" b="0">
                <a:solidFill>
                  <a:srgbClr val="5B6372"/>
                </a:solidFill>
                <a:latin typeface="Arial"/>
              </a:rPr>
              <a:t>Every claimed skill has an ID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Unknowns</a:t>
            </a:r>
          </a:p>
          <a:p>
            <a:pPr algn="l">
              <a:spcAft>
                <a:spcPts val="300"/>
              </a:spcAft>
            </a:pPr>
            <a:r>
              <a:rPr sz="1600" b="0">
                <a:solidFill>
                  <a:srgbClr val="5B6372"/>
                </a:solidFill>
                <a:latin typeface="Arial"/>
              </a:rPr>
              <a:t>Missing requirements remain visible</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Choice</a:t>
            </a:r>
          </a:p>
          <a:p>
            <a:pPr algn="l">
              <a:spcAft>
                <a:spcPts val="300"/>
              </a:spcAft>
            </a:pPr>
            <a:r>
              <a:rPr sz="1600" b="0">
                <a:solidFill>
                  <a:srgbClr val="5B6372"/>
                </a:solidFill>
                <a:latin typeface="Arial"/>
              </a:rPr>
              <a:t>Client can explain the preferred experiment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Build a Skills Evidence Ledger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At fictional Northstar Career Studio, you support Mei’s career transition. Translate work examples into an auditable skills inventory. You will connect the output to the next coaching task, inspect AI assumptions and keep the client in control. The completed artifact is skills-ledger.csv, ready for a human coaching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Translate work examples into an auditable skills inventory. Save skills-ledger.csv.</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Approved conversational AI, document editor and supplied synthetic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Build a Skills Evidence Ledger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skill has an S1–S4 ID; advanced analytics and CRM remain UNKNOWN.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Compare Career Options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At fictional Northstar Career Studio, you support Mei’s career transition. Compare three plausible pathways against Mei’s preferences and evidence. You will connect the output to the next coaching task, inspect AI assumptions and keep the client in control. The completed artifact is options-matrix.csv, ready for a human coaching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Compare three plausible pathways against Mei’s preferences and evidence. Save options-matrix.csv.</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Approved conversational AI, document editor and supplied synthetic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Compare Career Options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Three options are compared; weights total 100; no fictional role is presented as an active vacancy.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Recap — Assess Employee Competencies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LO2: Map documented skills to role requirements and compare feasible career options.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Career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Human judgement · evidence · practical AI support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FRAMEWORK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Job search as a learning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Target a role and select evidence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Tailor a truthful application</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Practise relevant interview stories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Review feedback and adapt the next attempt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Resume claim integrity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Source</a:t>
            </a:r>
          </a:p>
          <a:p>
            <a:pPr algn="l">
              <a:spcAft>
                <a:spcPts val="300"/>
              </a:spcAft>
            </a:pPr>
            <a:r>
              <a:rPr sz="1600" b="0">
                <a:solidFill>
                  <a:srgbClr val="5B6372"/>
                </a:solidFill>
                <a:latin typeface="Arial"/>
              </a:rPr>
              <a:t>Original work evidence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Draft</a:t>
            </a:r>
          </a:p>
          <a:p>
            <a:pPr algn="l">
              <a:spcAft>
                <a:spcPts val="300"/>
              </a:spcAft>
            </a:pPr>
            <a:r>
              <a:rPr sz="1600" b="0">
                <a:solidFill>
                  <a:srgbClr val="5B6372"/>
                </a:solidFill>
                <a:latin typeface="Arial"/>
              </a:rPr>
              <a:t>Action plus task plus verified result</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Review</a:t>
            </a:r>
          </a:p>
          <a:p>
            <a:pPr algn="l">
              <a:spcAft>
                <a:spcPts val="300"/>
              </a:spcAft>
            </a:pPr>
            <a:r>
              <a:rPr sz="1600" b="0">
                <a:solidFill>
                  <a:srgbClr val="5B6372"/>
                </a:solidFill>
                <a:latin typeface="Arial"/>
              </a:rPr>
              <a:t>Remove any invented metric or responsibility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Worked resume transformation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Before</a:t>
            </a:r>
          </a:p>
          <a:p>
            <a:pPr algn="l">
              <a:spcAft>
                <a:spcPts val="300"/>
              </a:spcAft>
            </a:pPr>
            <a:r>
              <a:rPr sz="1600" b="0">
                <a:solidFill>
                  <a:srgbClr val="5B6372"/>
                </a:solidFill>
                <a:latin typeface="Arial"/>
              </a:rPr>
              <a:t>Responsible for rotas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After</a:t>
            </a:r>
          </a:p>
          <a:p>
            <a:pPr algn="l">
              <a:spcAft>
                <a:spcPts val="300"/>
              </a:spcAft>
            </a:pPr>
            <a:r>
              <a:rPr sz="1600" b="0">
                <a:solidFill>
                  <a:srgbClr val="5B6372"/>
                </a:solidFill>
                <a:latin typeface="Arial"/>
              </a:rPr>
              <a:t>Coordinated weekly rotas for 12 staff</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Boundary</a:t>
            </a:r>
          </a:p>
          <a:p>
            <a:pPr algn="l">
              <a:spcAft>
                <a:spcPts val="300"/>
              </a:spcAft>
            </a:pPr>
            <a:r>
              <a:rPr sz="1600" b="0">
                <a:solidFill>
                  <a:srgbClr val="5B6372"/>
                </a:solidFill>
                <a:latin typeface="Arial"/>
              </a:rPr>
              <a:t>No claim of reducing overtime without evidence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Keywords with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Useful</a:t>
            </a:r>
          </a:p>
          <a:p>
            <a:pPr algn="l">
              <a:spcAft>
                <a:spcPts val="300"/>
              </a:spcAft>
            </a:pPr>
            <a:r>
              <a:rPr sz="1600" b="0">
                <a:solidFill>
                  <a:srgbClr val="5B6372"/>
                </a:solidFill>
                <a:latin typeface="Arial"/>
              </a:rPr>
              <a:t>Use the role’s language where accurate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Weak</a:t>
            </a:r>
          </a:p>
          <a:p>
            <a:pPr algn="l">
              <a:spcAft>
                <a:spcPts val="300"/>
              </a:spcAft>
            </a:pPr>
            <a:r>
              <a:rPr sz="1600" b="0">
                <a:solidFill>
                  <a:srgbClr val="5B6372"/>
                </a:solidFill>
                <a:latin typeface="Arial"/>
              </a:rPr>
              <a:t>Copy all keywords without proof</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Better</a:t>
            </a:r>
          </a:p>
          <a:p>
            <a:pPr algn="l">
              <a:spcAft>
                <a:spcPts val="300"/>
              </a:spcAft>
            </a:pPr>
            <a:r>
              <a:rPr sz="1600" b="0">
                <a:solidFill>
                  <a:srgbClr val="5B6372"/>
                </a:solidFill>
                <a:latin typeface="Arial"/>
              </a:rPr>
              <a:t>Attach each important phrase to a real example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ATS is not a hiring guarantee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Structure</a:t>
            </a:r>
          </a:p>
          <a:p>
            <a:pPr algn="l">
              <a:spcAft>
                <a:spcPts val="300"/>
              </a:spcAft>
            </a:pPr>
            <a:r>
              <a:rPr sz="1600" b="0">
                <a:solidFill>
                  <a:srgbClr val="5B6372"/>
                </a:solidFill>
                <a:latin typeface="Arial"/>
              </a:rPr>
              <a:t>Use clear section headings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Content</a:t>
            </a:r>
          </a:p>
          <a:p>
            <a:pPr algn="l">
              <a:spcAft>
                <a:spcPts val="300"/>
              </a:spcAft>
            </a:pPr>
            <a:r>
              <a:rPr sz="1600" b="0">
                <a:solidFill>
                  <a:srgbClr val="5B6372"/>
                </a:solidFill>
                <a:latin typeface="Arial"/>
              </a:rPr>
              <a:t>State relevant, truthful capability</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Reality</a:t>
            </a:r>
          </a:p>
          <a:p>
            <a:pPr algn="l">
              <a:spcAft>
                <a:spcPts val="300"/>
              </a:spcAft>
            </a:pPr>
            <a:r>
              <a:rPr sz="1600" b="0">
                <a:solidFill>
                  <a:srgbClr val="5B6372"/>
                </a:solidFill>
                <a:latin typeface="Arial"/>
              </a:rPr>
              <a:t>A matching score does not predict an offer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Cover letter argument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Role</a:t>
            </a:r>
          </a:p>
          <a:p>
            <a:pPr algn="l">
              <a:spcAft>
                <a:spcPts val="300"/>
              </a:spcAft>
            </a:pPr>
            <a:r>
              <a:rPr sz="1600" b="0">
                <a:solidFill>
                  <a:srgbClr val="5B6372"/>
                </a:solidFill>
                <a:latin typeface="Arial"/>
              </a:rPr>
              <a:t>Why this work interests the client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Evidence</a:t>
            </a:r>
          </a:p>
          <a:p>
            <a:pPr algn="l">
              <a:spcAft>
                <a:spcPts val="300"/>
              </a:spcAft>
            </a:pPr>
            <a:r>
              <a:rPr sz="1600" b="0">
                <a:solidFill>
                  <a:srgbClr val="5B6372"/>
                </a:solidFill>
                <a:latin typeface="Arial"/>
              </a:rPr>
              <a:t>Two relevant examples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Bridge</a:t>
            </a:r>
          </a:p>
          <a:p>
            <a:pPr algn="l">
              <a:spcAft>
                <a:spcPts val="300"/>
              </a:spcAft>
            </a:pPr>
            <a:r>
              <a:rPr sz="1600" b="0">
                <a:solidFill>
                  <a:srgbClr val="5B6372"/>
                </a:solidFill>
                <a:latin typeface="Arial"/>
              </a:rPr>
              <a:t>Acknowledge a gap and a practical learning plan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 professional profile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Headline</a:t>
            </a:r>
          </a:p>
          <a:p>
            <a:pPr algn="l">
              <a:spcAft>
                <a:spcPts val="300"/>
              </a:spcAft>
            </a:pPr>
            <a:r>
              <a:rPr sz="1600" b="0">
                <a:solidFill>
                  <a:srgbClr val="5B6372"/>
                </a:solidFill>
                <a:latin typeface="Arial"/>
              </a:rPr>
              <a:t>Describe target work and current strengths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Summary</a:t>
            </a:r>
          </a:p>
          <a:p>
            <a:pPr algn="l">
              <a:spcAft>
                <a:spcPts val="300"/>
              </a:spcAft>
            </a:pPr>
            <a:r>
              <a:rPr sz="1600" b="0">
                <a:solidFill>
                  <a:srgbClr val="5B6372"/>
                </a:solidFill>
                <a:latin typeface="Arial"/>
              </a:rPr>
              <a:t>Connect past evidence to future contribution</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Proof</a:t>
            </a:r>
          </a:p>
          <a:p>
            <a:pPr algn="l">
              <a:spcAft>
                <a:spcPts val="300"/>
              </a:spcAft>
            </a:pPr>
            <a:r>
              <a:rPr sz="1600" b="0">
                <a:solidFill>
                  <a:srgbClr val="5B6372"/>
                </a:solidFill>
                <a:latin typeface="Arial"/>
              </a:rPr>
              <a:t>Use work samples the client may share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Networking with permission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Purpose</a:t>
            </a:r>
          </a:p>
          <a:p>
            <a:pPr algn="l">
              <a:spcAft>
                <a:spcPts val="300"/>
              </a:spcAft>
            </a:pPr>
            <a:r>
              <a:rPr sz="1600" b="0">
                <a:solidFill>
                  <a:srgbClr val="5B6372"/>
                </a:solidFill>
                <a:latin typeface="Arial"/>
              </a:rPr>
              <a:t>Ask for insight into a role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Message</a:t>
            </a:r>
          </a:p>
          <a:p>
            <a:pPr algn="l">
              <a:spcAft>
                <a:spcPts val="300"/>
              </a:spcAft>
            </a:pPr>
            <a:r>
              <a:rPr sz="1600" b="0">
                <a:solidFill>
                  <a:srgbClr val="5B6372"/>
                </a:solidFill>
                <a:latin typeface="Arial"/>
              </a:rPr>
              <a:t>Be concise and specific</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Boundary</a:t>
            </a:r>
          </a:p>
          <a:p>
            <a:pPr algn="l">
              <a:spcAft>
                <a:spcPts val="300"/>
              </a:spcAft>
            </a:pPr>
            <a:r>
              <a:rPr sz="1600" b="0">
                <a:solidFill>
                  <a:srgbClr val="5B6372"/>
                </a:solidFill>
                <a:latin typeface="Arial"/>
              </a:rPr>
              <a:t>The learner reviews and sends any message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Interview question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Behavioral</a:t>
            </a:r>
          </a:p>
          <a:p>
            <a:pPr algn="l">
              <a:spcAft>
                <a:spcPts val="300"/>
              </a:spcAft>
            </a:pPr>
            <a:r>
              <a:rPr sz="1600" b="0">
                <a:solidFill>
                  <a:srgbClr val="5B6372"/>
                </a:solidFill>
                <a:latin typeface="Arial"/>
              </a:rPr>
              <a:t>Tell me about a service recovery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Situational</a:t>
            </a:r>
          </a:p>
          <a:p>
            <a:pPr algn="l">
              <a:spcAft>
                <a:spcPts val="300"/>
              </a:spcAft>
            </a:pPr>
            <a:r>
              <a:rPr sz="1600" b="0">
                <a:solidFill>
                  <a:srgbClr val="5B6372"/>
                </a:solidFill>
                <a:latin typeface="Arial"/>
              </a:rPr>
              <a:t>How would you prioritize urgent requests?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Role-specific</a:t>
            </a:r>
          </a:p>
          <a:p>
            <a:pPr algn="l">
              <a:spcAft>
                <a:spcPts val="300"/>
              </a:spcAft>
            </a:pPr>
            <a:r>
              <a:rPr sz="1600" b="0">
                <a:solidFill>
                  <a:srgbClr val="5B6372"/>
                </a:solidFill>
                <a:latin typeface="Arial"/>
              </a:rPr>
              <a:t>How do you check a weekly report?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FRAMEWORK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STAR evidence structure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Situation: establish context</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Task: explain your responsibility</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Action: describe what you did</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Result: use only a supported outcome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Feedback that improves answers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Observe</a:t>
            </a:r>
          </a:p>
          <a:p>
            <a:pPr algn="l">
              <a:spcAft>
                <a:spcPts val="300"/>
              </a:spcAft>
            </a:pPr>
            <a:r>
              <a:rPr sz="1600" b="0">
                <a:solidFill>
                  <a:srgbClr val="5B6372"/>
                </a:solidFill>
                <a:latin typeface="Arial"/>
              </a:rPr>
              <a:t>Quote the answer’s actual evidence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Explain</a:t>
            </a:r>
          </a:p>
          <a:p>
            <a:pPr algn="l">
              <a:spcAft>
                <a:spcPts val="300"/>
              </a:spcAft>
            </a:pPr>
            <a:r>
              <a:rPr sz="1600" b="0">
                <a:solidFill>
                  <a:srgbClr val="5B6372"/>
                </a:solidFill>
                <a:latin typeface="Arial"/>
              </a:rPr>
              <a:t>Identify an unclear or missing element</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Practise</a:t>
            </a:r>
          </a:p>
          <a:p>
            <a:pPr algn="l">
              <a:spcAft>
                <a:spcPts val="300"/>
              </a:spcAft>
            </a:pPr>
            <a:r>
              <a:rPr sz="1600" b="0">
                <a:solidFill>
                  <a:srgbClr val="5B6372"/>
                </a:solidFill>
                <a:latin typeface="Arial"/>
              </a:rPr>
              <a:t>Ask one follow-up and retry the answer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 rehearsal conversation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Question</a:t>
            </a:r>
          </a:p>
          <a:p>
            <a:pPr algn="l">
              <a:spcAft>
                <a:spcPts val="300"/>
              </a:spcAft>
            </a:pPr>
            <a:r>
              <a:rPr sz="1600" b="0">
                <a:solidFill>
                  <a:srgbClr val="5B6372"/>
                </a:solidFill>
                <a:latin typeface="Arial"/>
              </a:rPr>
              <a:t>Describe a difficult staffing decision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Answer</a:t>
            </a:r>
          </a:p>
          <a:p>
            <a:pPr algn="l">
              <a:spcAft>
                <a:spcPts val="300"/>
              </a:spcAft>
            </a:pPr>
            <a:r>
              <a:rPr sz="1600" b="0">
                <a:solidFill>
                  <a:srgbClr val="5B6372"/>
                </a:solidFill>
                <a:latin typeface="Arial"/>
              </a:rPr>
              <a:t>I reorganized coverage after two absences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Follow-up</a:t>
            </a:r>
          </a:p>
          <a:p>
            <a:pPr algn="l">
              <a:spcAft>
                <a:spcPts val="300"/>
              </a:spcAft>
            </a:pPr>
            <a:r>
              <a:rPr sz="1600" b="0">
                <a:solidFill>
                  <a:srgbClr val="5B6372"/>
                </a:solidFill>
                <a:latin typeface="Arial"/>
              </a:rPr>
              <a:t>What was your role and what evidence confirms the result?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Ethical interview rehearsal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Before</a:t>
            </a:r>
          </a:p>
          <a:p>
            <a:pPr algn="l">
              <a:spcAft>
                <a:spcPts val="300"/>
              </a:spcAft>
            </a:pPr>
            <a:r>
              <a:rPr sz="1600" b="0">
                <a:solidFill>
                  <a:srgbClr val="5B6372"/>
                </a:solidFill>
                <a:latin typeface="Arial"/>
              </a:rPr>
              <a:t>Practise with AI and human feedback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During</a:t>
            </a:r>
          </a:p>
          <a:p>
            <a:pPr algn="l">
              <a:spcAft>
                <a:spcPts val="300"/>
              </a:spcAft>
            </a:pPr>
            <a:r>
              <a:rPr sz="1600" b="0">
                <a:solidFill>
                  <a:srgbClr val="5B6372"/>
                </a:solidFill>
                <a:latin typeface="Arial"/>
              </a:rPr>
              <a:t>Follow the interview rules and answer personally</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After</a:t>
            </a:r>
          </a:p>
          <a:p>
            <a:pPr algn="l">
              <a:spcAft>
                <a:spcPts val="300"/>
              </a:spcAft>
            </a:pPr>
            <a:r>
              <a:rPr sz="1600" b="0">
                <a:solidFill>
                  <a:srgbClr val="5B6372"/>
                </a:solidFill>
                <a:latin typeface="Arial"/>
              </a:rPr>
              <a:t>Reflect without uploading private interview material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Coaching record quality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Record</a:t>
            </a:r>
          </a:p>
          <a:p>
            <a:pPr algn="l">
              <a:spcAft>
                <a:spcPts val="300"/>
              </a:spcAft>
            </a:pPr>
            <a:r>
              <a:rPr sz="1600" b="0">
                <a:solidFill>
                  <a:srgbClr val="5B6372"/>
                </a:solidFill>
                <a:latin typeface="Arial"/>
              </a:rPr>
              <a:t>Goal, agreed actions and client corrections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Omit</a:t>
            </a:r>
          </a:p>
          <a:p>
            <a:pPr algn="l">
              <a:spcAft>
                <a:spcPts val="300"/>
              </a:spcAft>
            </a:pPr>
            <a:r>
              <a:rPr sz="1600" b="0">
                <a:solidFill>
                  <a:srgbClr val="5B6372"/>
                </a:solidFill>
                <a:latin typeface="Arial"/>
              </a:rPr>
              <a:t>Unneeded identifiers and speculative labels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Share</a:t>
            </a:r>
          </a:p>
          <a:p>
            <a:pPr algn="l">
              <a:spcAft>
                <a:spcPts val="300"/>
              </a:spcAft>
            </a:pPr>
            <a:r>
              <a:rPr sz="1600" b="0">
                <a:solidFill>
                  <a:srgbClr val="5B6372"/>
                </a:solidFill>
                <a:latin typeface="Arial"/>
              </a:rPr>
              <a:t>Only the agreed summary with authorized people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Topic 3 decision check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Truth</a:t>
            </a:r>
          </a:p>
          <a:p>
            <a:pPr algn="l">
              <a:spcAft>
                <a:spcPts val="300"/>
              </a:spcAft>
            </a:pPr>
            <a:r>
              <a:rPr sz="1600" b="0">
                <a:solidFill>
                  <a:srgbClr val="5B6372"/>
                </a:solidFill>
                <a:latin typeface="Arial"/>
              </a:rPr>
              <a:t>No application statement exceeds evidence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Practice</a:t>
            </a:r>
          </a:p>
          <a:p>
            <a:pPr algn="l">
              <a:spcAft>
                <a:spcPts val="300"/>
              </a:spcAft>
            </a:pPr>
            <a:r>
              <a:rPr sz="1600" b="0">
                <a:solidFill>
                  <a:srgbClr val="5B6372"/>
                </a:solidFill>
                <a:latin typeface="Arial"/>
              </a:rPr>
              <a:t>Feedback points to a concrete revision</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Control</a:t>
            </a:r>
          </a:p>
          <a:p>
            <a:pPr algn="l">
              <a:spcAft>
                <a:spcPts val="300"/>
              </a:spcAft>
            </a:pPr>
            <a:r>
              <a:rPr sz="1600" b="0">
                <a:solidFill>
                  <a:srgbClr val="5B6372"/>
                </a:solidFill>
                <a:latin typeface="Arial"/>
              </a:rPr>
              <a:t>Client approves the final text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Create Truthful Application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At fictional Northstar Career Studio, you support Mei’s career transition. Create a targeted resume summary and cover letter grounded in evidence. You will connect the output to the next coaching task, inspect AI assumptions and keep the client in control. The completed artifact is application-pack.md, ready for a human coaching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Create a targeted resume summary and cover letter grounded in evidence. Save application-pack.md.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Approved conversational AI, document editor and supplied synthetic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Create Truthful Application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All factual claims trace to evidence; no savings or hiring guarantee appears; the client voice is retained.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Practise a Coaching Interview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At fictional Northstar Career Studio, you support Mei’s career transition. Rehearse two answers and improve them with specific feedback. You will connect the output to the next coaching task, inspect AI assumptions and keep the client in control. The completed artifact is interview-log.md, ready for a human coaching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Rehearse two answers and improve them with specific feedback. Save interview-log.md.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Approved conversational AI, document editor and supplied synthetic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Practise a Coaching Interview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Two answers and revisions are logged; feedback references the actual answer and unsupported results are removed.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Review Coaching Records and Bias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At fictional Northstar Career Studio, you support Mei’s career transition. Produce a minimal coaching summary and check recommendation consistency. You will connect the output to the next coaching task, inspect AI assumptions and keep the client in control. The completed artifact is record-review.md, ready for a human coaching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Produce a minimal coaching summary and check recommendation consistency. Save record-review.md.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Approved conversational AI, document editor and supplied synthetic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Review Coaching Records and Bias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Summary has no contact data; changes in advice are inspected; one repair and a sharing boundary are documented.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Recap — Career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LO3: Create truthful application materials and rehearse evidence-based interview responses.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Support Career Plan Implementation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Human judgement · evidence · practical AI support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From aspiration to experiment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Aspiration</a:t>
            </a:r>
          </a:p>
          <a:p>
            <a:pPr algn="l">
              <a:spcAft>
                <a:spcPts val="300"/>
              </a:spcAft>
            </a:pPr>
            <a:r>
              <a:rPr sz="1600" b="0">
                <a:solidFill>
                  <a:srgbClr val="5B6372"/>
                </a:solidFill>
                <a:latin typeface="Arial"/>
              </a:rPr>
              <a:t>Explore an operations role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Experiment</a:t>
            </a:r>
          </a:p>
          <a:p>
            <a:pPr algn="l">
              <a:spcAft>
                <a:spcPts val="300"/>
              </a:spcAft>
            </a:pPr>
            <a:r>
              <a:rPr sz="1600" b="0">
                <a:solidFill>
                  <a:srgbClr val="5B6372"/>
                </a:solidFill>
                <a:latin typeface="Arial"/>
              </a:rPr>
              <a:t>Create a sample scheduling dashboard</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Learning</a:t>
            </a:r>
          </a:p>
          <a:p>
            <a:pPr algn="l">
              <a:spcAft>
                <a:spcPts val="300"/>
              </a:spcAft>
            </a:pPr>
            <a:r>
              <a:rPr sz="1600" b="0">
                <a:solidFill>
                  <a:srgbClr val="5B6372"/>
                </a:solidFill>
                <a:latin typeface="Arial"/>
              </a:rPr>
              <a:t>Discuss it with a consenting mentor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SMART action design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Specific</a:t>
            </a:r>
          </a:p>
          <a:p>
            <a:pPr algn="l">
              <a:spcAft>
                <a:spcPts val="300"/>
              </a:spcAft>
            </a:pPr>
            <a:r>
              <a:rPr sz="1600" b="0">
                <a:solidFill>
                  <a:srgbClr val="5B6372"/>
                </a:solidFill>
                <a:latin typeface="Arial"/>
              </a:rPr>
              <a:t>Name the work product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Measurable</a:t>
            </a:r>
          </a:p>
          <a:p>
            <a:pPr algn="l">
              <a:spcAft>
                <a:spcPts val="300"/>
              </a:spcAft>
            </a:pPr>
            <a:r>
              <a:rPr sz="1600" b="0">
                <a:solidFill>
                  <a:srgbClr val="5B6372"/>
                </a:solidFill>
                <a:latin typeface="Arial"/>
              </a:rPr>
              <a:t>Define observable completion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Feasible</a:t>
            </a:r>
          </a:p>
          <a:p>
            <a:pPr algn="l">
              <a:spcAft>
                <a:spcPts val="300"/>
              </a:spcAft>
            </a:pPr>
            <a:r>
              <a:rPr sz="1600" b="0">
                <a:solidFill>
                  <a:srgbClr val="5B6372"/>
                </a:solidFill>
                <a:latin typeface="Arial"/>
              </a:rPr>
              <a:t>Fit the client’s time and resources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Dated</a:t>
            </a:r>
          </a:p>
          <a:p>
            <a:pPr algn="l">
              <a:spcAft>
                <a:spcPts val="300"/>
              </a:spcAft>
            </a:pPr>
            <a:r>
              <a:rPr sz="1600" b="0">
                <a:solidFill>
                  <a:srgbClr val="5B6372"/>
                </a:solidFill>
                <a:latin typeface="Arial"/>
              </a:rPr>
              <a:t>Choose a review date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30–60–90 day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Days 1–30</a:t>
            </a:r>
          </a:p>
          <a:p>
            <a:pPr algn="l">
              <a:spcAft>
                <a:spcPts val="300"/>
              </a:spcAft>
            </a:pPr>
            <a:r>
              <a:rPr sz="1600" b="0">
                <a:solidFill>
                  <a:srgbClr val="5B6372"/>
                </a:solidFill>
                <a:latin typeface="Arial"/>
              </a:rPr>
              <a:t>Test role interest and build evidence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Days 31–60</a:t>
            </a:r>
          </a:p>
          <a:p>
            <a:pPr algn="l">
              <a:spcAft>
                <a:spcPts val="300"/>
              </a:spcAft>
            </a:pPr>
            <a:r>
              <a:rPr sz="1600" b="0">
                <a:solidFill>
                  <a:srgbClr val="5B6372"/>
                </a:solidFill>
                <a:latin typeface="Arial"/>
              </a:rPr>
              <a:t>Seek feedback and refine materials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Days 61–90</a:t>
            </a:r>
          </a:p>
          <a:p>
            <a:pPr algn="l">
              <a:spcAft>
                <a:spcPts val="300"/>
              </a:spcAft>
            </a:pPr>
            <a:r>
              <a:rPr sz="1600" b="0">
                <a:solidFill>
                  <a:srgbClr val="5B6372"/>
                </a:solidFill>
                <a:latin typeface="Arial"/>
              </a:rPr>
              <a:t>Review progress and decide next steps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Action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Action</a:t>
            </a:r>
          </a:p>
          <a:p>
            <a:pPr algn="l">
              <a:spcAft>
                <a:spcPts val="300"/>
              </a:spcAft>
            </a:pPr>
            <a:r>
              <a:rPr sz="1600" b="0">
                <a:solidFill>
                  <a:srgbClr val="5B6372"/>
                </a:solidFill>
                <a:latin typeface="Arial"/>
              </a:rPr>
              <a:t>Create one sample weekly report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Owner</a:t>
            </a:r>
          </a:p>
          <a:p>
            <a:pPr algn="l">
              <a:spcAft>
                <a:spcPts val="300"/>
              </a:spcAft>
            </a:pPr>
            <a:r>
              <a:rPr sz="1600" b="0">
                <a:solidFill>
                  <a:srgbClr val="5B6372"/>
                </a:solidFill>
                <a:latin typeface="Arial"/>
              </a:rPr>
              <a:t>Client owns the work; coach supports review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Evidence</a:t>
            </a:r>
          </a:p>
          <a:p>
            <a:pPr algn="l">
              <a:spcAft>
                <a:spcPts val="300"/>
              </a:spcAft>
            </a:pPr>
            <a:r>
              <a:rPr sz="1600" b="0">
                <a:solidFill>
                  <a:srgbClr val="5B6372"/>
                </a:solidFill>
                <a:latin typeface="Arial"/>
              </a:rPr>
              <a:t>Report file and reflection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Review</a:t>
            </a:r>
          </a:p>
          <a:p>
            <a:pPr algn="l">
              <a:spcAft>
                <a:spcPts val="300"/>
              </a:spcAft>
            </a:pPr>
            <a:r>
              <a:rPr sz="1600" b="0">
                <a:solidFill>
                  <a:srgbClr val="5B6372"/>
                </a:solidFill>
                <a:latin typeface="Arial"/>
              </a:rPr>
              <a:t>Date and next decision recorded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HR frameworks in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Eligibility</a:t>
            </a:r>
          </a:p>
          <a:p>
            <a:pPr algn="l">
              <a:spcAft>
                <a:spcPts val="300"/>
              </a:spcAft>
            </a:pPr>
            <a:r>
              <a:rPr sz="1600" b="0">
                <a:solidFill>
                  <a:srgbClr val="5B6372"/>
                </a:solidFill>
                <a:latin typeface="Arial"/>
              </a:rPr>
              <a:t>Confirm internal mobility rules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Learning</a:t>
            </a:r>
          </a:p>
          <a:p>
            <a:pPr algn="l">
              <a:spcAft>
                <a:spcPts val="300"/>
              </a:spcAft>
            </a:pPr>
            <a:r>
              <a:rPr sz="1600" b="0">
                <a:solidFill>
                  <a:srgbClr val="5B6372"/>
                </a:solidFill>
                <a:latin typeface="Arial"/>
              </a:rPr>
              <a:t>Agree access to projects and mentors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Progression</a:t>
            </a:r>
          </a:p>
          <a:p>
            <a:pPr algn="l">
              <a:spcAft>
                <a:spcPts val="300"/>
              </a:spcAft>
            </a:pPr>
            <a:r>
              <a:rPr sz="1600" b="0">
                <a:solidFill>
                  <a:srgbClr val="5B6372"/>
                </a:solidFill>
                <a:latin typeface="Arial"/>
              </a:rPr>
              <a:t>Ask for written role expectations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Stakeholder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Client</a:t>
            </a:r>
          </a:p>
          <a:p>
            <a:pPr algn="l">
              <a:spcAft>
                <a:spcPts val="300"/>
              </a:spcAft>
            </a:pPr>
            <a:r>
              <a:rPr sz="1600" b="0">
                <a:solidFill>
                  <a:srgbClr val="5B6372"/>
                </a:solidFill>
                <a:latin typeface="Arial"/>
              </a:rPr>
              <a:t>Owns the goal and shares preferences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Coach</a:t>
            </a:r>
          </a:p>
          <a:p>
            <a:pPr algn="l">
              <a:spcAft>
                <a:spcPts val="300"/>
              </a:spcAft>
            </a:pPr>
            <a:r>
              <a:rPr sz="1600" b="0">
                <a:solidFill>
                  <a:srgbClr val="5B6372"/>
                </a:solidFill>
                <a:latin typeface="Arial"/>
              </a:rPr>
              <a:t>Supports reflection and evidence review</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HR and manager</a:t>
            </a:r>
          </a:p>
          <a:p>
            <a:pPr algn="l">
              <a:spcAft>
                <a:spcPts val="300"/>
              </a:spcAft>
            </a:pPr>
            <a:r>
              <a:rPr sz="1600" b="0">
                <a:solidFill>
                  <a:srgbClr val="5B6372"/>
                </a:solidFill>
                <a:latin typeface="Arial"/>
              </a:rPr>
              <a:t>Confirm policy and available opportunities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Permission before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Draft</a:t>
            </a:r>
          </a:p>
          <a:p>
            <a:pPr algn="l">
              <a:spcAft>
                <a:spcPts val="300"/>
              </a:spcAft>
            </a:pPr>
            <a:r>
              <a:rPr sz="1600" b="0">
                <a:solidFill>
                  <a:srgbClr val="5B6372"/>
                </a:solidFill>
                <a:latin typeface="Arial"/>
              </a:rPr>
              <a:t>AI proposes a message or appointment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Review</a:t>
            </a:r>
          </a:p>
          <a:p>
            <a:pPr algn="l">
              <a:spcAft>
                <a:spcPts val="300"/>
              </a:spcAft>
            </a:pPr>
            <a:r>
              <a:rPr sz="1600" b="0">
                <a:solidFill>
                  <a:srgbClr val="5B6372"/>
                </a:solidFill>
                <a:latin typeface="Arial"/>
              </a:rPr>
              <a:t>Client checks recipients and content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Approve</a:t>
            </a:r>
          </a:p>
          <a:p>
            <a:pPr algn="l">
              <a:spcAft>
                <a:spcPts val="300"/>
              </a:spcAft>
            </a:pPr>
            <a:r>
              <a:rPr sz="1600" b="0">
                <a:solidFill>
                  <a:srgbClr val="5B6372"/>
                </a:solidFill>
                <a:latin typeface="Arial"/>
              </a:rPr>
              <a:t>Client decides whether to send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Record</a:t>
            </a:r>
          </a:p>
          <a:p>
            <a:pPr algn="l">
              <a:spcAft>
                <a:spcPts val="300"/>
              </a:spcAft>
            </a:pPr>
            <a:r>
              <a:rPr sz="1600" b="0">
                <a:solidFill>
                  <a:srgbClr val="5B6372"/>
                </a:solidFill>
                <a:latin typeface="Arial"/>
              </a:rPr>
              <a:t>Keep only necessary confirmation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Barriers and contingency plans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Barrier</a:t>
            </a:r>
          </a:p>
          <a:p>
            <a:pPr algn="l">
              <a:spcAft>
                <a:spcPts val="300"/>
              </a:spcAft>
            </a:pPr>
            <a:r>
              <a:rPr sz="1600" b="0">
                <a:solidFill>
                  <a:srgbClr val="5B6372"/>
                </a:solidFill>
                <a:latin typeface="Arial"/>
              </a:rPr>
              <a:t>Only two study hours each week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Adaptation</a:t>
            </a:r>
          </a:p>
          <a:p>
            <a:pPr algn="l">
              <a:spcAft>
                <a:spcPts val="300"/>
              </a:spcAft>
            </a:pPr>
            <a:r>
              <a:rPr sz="1600" b="0">
                <a:solidFill>
                  <a:srgbClr val="5B6372"/>
                </a:solidFill>
                <a:latin typeface="Arial"/>
              </a:rPr>
              <a:t>Split the work sample into small tasks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Trigger</a:t>
            </a:r>
          </a:p>
          <a:p>
            <a:pPr algn="l">
              <a:spcAft>
                <a:spcPts val="300"/>
              </a:spcAft>
            </a:pPr>
            <a:r>
              <a:rPr sz="1600" b="0">
                <a:solidFill>
                  <a:srgbClr val="5B6372"/>
                </a:solidFill>
                <a:latin typeface="Arial"/>
              </a:rPr>
              <a:t>If two milestones slip, renegotiate scope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Leading and lagging indicators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Leading</a:t>
            </a:r>
          </a:p>
          <a:p>
            <a:pPr algn="l">
              <a:spcAft>
                <a:spcPts val="300"/>
              </a:spcAft>
            </a:pPr>
            <a:r>
              <a:rPr sz="1600" b="0">
                <a:solidFill>
                  <a:srgbClr val="5B6372"/>
                </a:solidFill>
                <a:latin typeface="Arial"/>
              </a:rPr>
              <a:t>Practice sessions and work samples completed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Lagging</a:t>
            </a:r>
          </a:p>
          <a:p>
            <a:pPr algn="l">
              <a:spcAft>
                <a:spcPts val="300"/>
              </a:spcAft>
            </a:pPr>
            <a:r>
              <a:rPr sz="1600" b="0">
                <a:solidFill>
                  <a:srgbClr val="5B6372"/>
                </a:solidFill>
                <a:latin typeface="Arial"/>
              </a:rPr>
              <a:t>Interviews and role changes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Interpretation</a:t>
            </a:r>
          </a:p>
          <a:p>
            <a:pPr algn="l">
              <a:spcAft>
                <a:spcPts val="300"/>
              </a:spcAft>
            </a:pPr>
            <a:r>
              <a:rPr sz="1600" b="0">
                <a:solidFill>
                  <a:srgbClr val="5B6372"/>
                </a:solidFill>
                <a:latin typeface="Arial"/>
              </a:rPr>
              <a:t>Progress depends on opportunity and context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Worked programme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Invited</a:t>
            </a:r>
          </a:p>
          <a:p>
            <a:pPr algn="l">
              <a:spcAft>
                <a:spcPts val="300"/>
              </a:spcAft>
            </a:pPr>
            <a:r>
              <a:rPr sz="1600" b="0">
                <a:solidFill>
                  <a:srgbClr val="5B6372"/>
                </a:solidFill>
                <a:latin typeface="Arial"/>
              </a:rPr>
              <a:t>20 fictional participants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Engaged</a:t>
            </a:r>
          </a:p>
          <a:p>
            <a:pPr algn="l">
              <a:spcAft>
                <a:spcPts val="300"/>
              </a:spcAft>
            </a:pPr>
            <a:r>
              <a:rPr sz="1600" b="0">
                <a:solidFill>
                  <a:srgbClr val="5B6372"/>
                </a:solidFill>
                <a:latin typeface="Arial"/>
              </a:rPr>
              <a:t>15 completed an agreed action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Rate</a:t>
            </a:r>
          </a:p>
          <a:p>
            <a:pPr algn="l">
              <a:spcAft>
                <a:spcPts val="300"/>
              </a:spcAft>
            </a:pPr>
            <a:r>
              <a:rPr sz="1600" b="0">
                <a:solidFill>
                  <a:srgbClr val="5B6372"/>
                </a:solidFill>
                <a:latin typeface="Arial"/>
              </a:rPr>
              <a:t>15 / 20 = 75% engagement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Limit</a:t>
            </a:r>
          </a:p>
          <a:p>
            <a:pPr algn="l">
              <a:spcAft>
                <a:spcPts val="300"/>
              </a:spcAft>
            </a:pPr>
            <a:r>
              <a:rPr sz="1600" b="0">
                <a:solidFill>
                  <a:srgbClr val="5B6372"/>
                </a:solidFill>
                <a:latin typeface="Arial"/>
              </a:rPr>
              <a:t>This does not establish programme causality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Quality over activity count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Volume</a:t>
            </a:r>
          </a:p>
          <a:p>
            <a:pPr algn="l">
              <a:spcAft>
                <a:spcPts val="300"/>
              </a:spcAft>
            </a:pPr>
            <a:r>
              <a:rPr sz="1600" b="0">
                <a:solidFill>
                  <a:srgbClr val="5B6372"/>
                </a:solidFill>
                <a:latin typeface="Arial"/>
              </a:rPr>
              <a:t>Ten applications sent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Quality</a:t>
            </a:r>
          </a:p>
          <a:p>
            <a:pPr algn="l">
              <a:spcAft>
                <a:spcPts val="300"/>
              </a:spcAft>
            </a:pPr>
            <a:r>
              <a:rPr sz="1600" b="0">
                <a:solidFill>
                  <a:srgbClr val="5B6372"/>
                </a:solidFill>
                <a:latin typeface="Arial"/>
              </a:rPr>
              <a:t>Three relevant applications with verified evidence</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Learning</a:t>
            </a:r>
          </a:p>
          <a:p>
            <a:pPr algn="l">
              <a:spcAft>
                <a:spcPts val="300"/>
              </a:spcAft>
            </a:pPr>
            <a:r>
              <a:rPr sz="1600" b="0">
                <a:solidFill>
                  <a:srgbClr val="5B6372"/>
                </a:solidFill>
                <a:latin typeface="Arial"/>
              </a:rPr>
              <a:t>Record feedback that changes the strategy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Fairness review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Test</a:t>
            </a:r>
          </a:p>
          <a:p>
            <a:pPr algn="l">
              <a:spcAft>
                <a:spcPts val="300"/>
              </a:spcAft>
            </a:pPr>
            <a:r>
              <a:rPr sz="1600" b="0">
                <a:solidFill>
                  <a:srgbClr val="5B6372"/>
                </a:solidFill>
                <a:latin typeface="Arial"/>
              </a:rPr>
              <a:t>Vary irrelevant personal labels in a synthetic brief</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Compare</a:t>
            </a:r>
          </a:p>
          <a:p>
            <a:pPr algn="l">
              <a:spcAft>
                <a:spcPts val="300"/>
              </a:spcAft>
            </a:pPr>
            <a:r>
              <a:rPr sz="1600" b="0">
                <a:solidFill>
                  <a:srgbClr val="5B6372"/>
                </a:solidFill>
                <a:latin typeface="Arial"/>
              </a:rPr>
              <a:t>Check whether recommendations change</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Repair</a:t>
            </a:r>
          </a:p>
          <a:p>
            <a:pPr algn="l">
              <a:spcAft>
                <a:spcPts val="300"/>
              </a:spcAft>
            </a:pPr>
            <a:r>
              <a:rPr sz="1600" b="0">
                <a:solidFill>
                  <a:srgbClr val="5B6372"/>
                </a:solidFill>
                <a:latin typeface="Arial"/>
              </a:rPr>
              <a:t>Use job-related evidence and human review</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Review cadence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Weekly</a:t>
            </a:r>
          </a:p>
          <a:p>
            <a:pPr algn="l">
              <a:spcAft>
                <a:spcPts val="300"/>
              </a:spcAft>
            </a:pPr>
            <a:r>
              <a:rPr sz="1600" b="0">
                <a:solidFill>
                  <a:srgbClr val="5B6372"/>
                </a:solidFill>
                <a:latin typeface="Arial"/>
              </a:rPr>
              <a:t>Check action completion and blockers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Monthly</a:t>
            </a:r>
          </a:p>
          <a:p>
            <a:pPr algn="l">
              <a:spcAft>
                <a:spcPts val="300"/>
              </a:spcAft>
            </a:pPr>
            <a:r>
              <a:rPr sz="1600" b="0">
                <a:solidFill>
                  <a:srgbClr val="5B6372"/>
                </a:solidFill>
                <a:latin typeface="Arial"/>
              </a:rPr>
              <a:t>Review evidence and preferences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Decision point</a:t>
            </a:r>
          </a:p>
          <a:p>
            <a:pPr algn="l">
              <a:spcAft>
                <a:spcPts val="300"/>
              </a:spcAft>
            </a:pPr>
            <a:r>
              <a:rPr sz="1600" b="0">
                <a:solidFill>
                  <a:srgbClr val="5B6372"/>
                </a:solidFill>
                <a:latin typeface="Arial"/>
              </a:rPr>
              <a:t>Continue, revise or stop the experiment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Vendor claims and boundaries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Capability</a:t>
            </a:r>
          </a:p>
          <a:p>
            <a:pPr algn="l">
              <a:spcAft>
                <a:spcPts val="300"/>
              </a:spcAft>
            </a:pPr>
            <a:r>
              <a:rPr sz="1600" b="0">
                <a:solidFill>
                  <a:srgbClr val="5B6372"/>
                </a:solidFill>
                <a:latin typeface="Arial"/>
              </a:rPr>
              <a:t>Verify current public feature descriptions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Outcome</a:t>
            </a:r>
          </a:p>
          <a:p>
            <a:pPr algn="l">
              <a:spcAft>
                <a:spcPts val="300"/>
              </a:spcAft>
            </a:pPr>
            <a:r>
              <a:rPr sz="1600" b="0">
                <a:solidFill>
                  <a:srgbClr val="5B6372"/>
                </a:solidFill>
                <a:latin typeface="Arial"/>
              </a:rPr>
              <a:t>Treat vendor metrics as contextual claims</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Practice</a:t>
            </a:r>
          </a:p>
          <a:p>
            <a:pPr algn="l">
              <a:spcAft>
                <a:spcPts val="300"/>
              </a:spcAft>
            </a:pPr>
            <a:r>
              <a:rPr sz="1600" b="0">
                <a:solidFill>
                  <a:srgbClr val="5B6372"/>
                </a:solidFill>
                <a:latin typeface="Arial"/>
              </a:rPr>
              <a:t>Use the course’s synthetic data in any tool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WORKED CONCEPT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Topic 4 decision check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Action</a:t>
            </a:r>
          </a:p>
          <a:p>
            <a:pPr algn="l">
              <a:spcAft>
                <a:spcPts val="300"/>
              </a:spcAft>
            </a:pPr>
            <a:r>
              <a:rPr sz="1600" b="0">
                <a:solidFill>
                  <a:srgbClr val="5B6372"/>
                </a:solidFill>
                <a:latin typeface="Arial"/>
              </a:rPr>
              <a:t>Every milestone has an owner and date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Review</a:t>
            </a:r>
          </a:p>
          <a:p>
            <a:pPr algn="l">
              <a:spcAft>
                <a:spcPts val="300"/>
              </a:spcAft>
            </a:pPr>
            <a:r>
              <a:rPr sz="1600" b="0">
                <a:solidFill>
                  <a:srgbClr val="5B6372"/>
                </a:solidFill>
                <a:latin typeface="Arial"/>
              </a:rPr>
              <a:t>Evidence informs the next conversation</a:t>
            </a:r>
          </a:p>
        </p:txBody>
      </p:sp>
      <p:sp>
        <p:nvSpPr>
          <p:cNvPr id="17" name="Rectangle 16"/>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4491990" y="4215384"/>
            <a:ext cx="3973068" cy="1883664"/>
          </a:xfrm>
          <a:prstGeom prst="rect">
            <a:avLst/>
          </a:prstGeom>
          <a:noFill/>
        </p:spPr>
        <p:txBody>
          <a:bodyPr wrap="square" anchor="ctr">
            <a:spAutoFit/>
          </a:bodyPr>
          <a:lstStyle/>
          <a:p>
            <a:pPr algn="l">
              <a:spcAft>
                <a:spcPts val="300"/>
              </a:spcAft>
            </a:pPr>
            <a:r>
              <a:rPr sz="2000" b="1">
                <a:solidFill>
                  <a:srgbClr val="161B26"/>
                </a:solidFill>
                <a:latin typeface="Arial"/>
              </a:rPr>
              <a:t>Agency</a:t>
            </a:r>
          </a:p>
          <a:p>
            <a:pPr algn="l">
              <a:spcAft>
                <a:spcPts val="300"/>
              </a:spcAft>
            </a:pPr>
            <a:r>
              <a:rPr sz="1600" b="0">
                <a:solidFill>
                  <a:srgbClr val="5B6372"/>
                </a:solidFill>
                <a:latin typeface="Arial"/>
              </a:rPr>
              <a:t>The client can revise the plan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Build a 30–60–90 Day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At fictional Northstar Career Studio, you support Mei’s career transition. Turn the preferred career experiment into dated milestones. You will connect the output to the next coaching task, inspect AI assumptions and keep the client in control. The completed artifact is action-plan.csv, ready for a human coaching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Turn the preferred career experiment into dated milestones. Save action-plan.csv.</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Approved conversational AI, document editor and supplied synthetic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Build a 30–60–90 Day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Milestones cover all three periods, fit time constraints and have owners, dates, evidence and a contingency.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Review a Coaching 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At fictional Northstar Career Studio, you support Mei’s career transition. Interpret a fictional coaching programme and propose a next improvement. You will connect the output to the next coaching task, inspect AI assumptions and keep the client in control. The completed artifact is pilot-review.md, ready for a human coaching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Interpret a fictional coaching programme and propose a next improvement. Save pilot-review.md.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Approved conversational AI, document editor and supplied synthetic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Review a Coaching 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Rates use explicit denominators; 15/20 is 75%; 8/20 is 40%; causality is not claimed.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Recap — Support Career Plan Implementation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LO4: Design a client-owned career action plan and review progress using appropriate indicators.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Contract and coach</a:t>
            </a:r>
          </a:p>
          <a:p>
            <a:pPr algn="l">
              <a:spcAft>
                <a:spcPts val="300"/>
              </a:spcAft>
            </a:pPr>
            <a:r>
              <a:rPr sz="1300" b="0">
                <a:solidFill>
                  <a:srgbClr val="5B6372"/>
                </a:solidFill>
                <a:latin typeface="Arial"/>
              </a:rPr>
              <a:t>Conduct a consent-based career intake and use AI to draft neutral coaching questions.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Map skills and options</a:t>
            </a:r>
          </a:p>
          <a:p>
            <a:pPr algn="l">
              <a:spcAft>
                <a:spcPts val="300"/>
              </a:spcAft>
            </a:pPr>
            <a:r>
              <a:rPr sz="1300" b="0">
                <a:solidFill>
                  <a:srgbClr val="5B6372"/>
                </a:solidFill>
                <a:latin typeface="Arial"/>
              </a:rPr>
              <a:t>Map documented skills to role requirements and compare feasible career options.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Prepare and practise</a:t>
            </a:r>
          </a:p>
          <a:p>
            <a:pPr algn="l">
              <a:spcAft>
                <a:spcPts val="300"/>
              </a:spcAft>
            </a:pPr>
            <a:r>
              <a:rPr sz="1300" b="0">
                <a:solidFill>
                  <a:srgbClr val="5B6372"/>
                </a:solidFill>
                <a:latin typeface="Arial"/>
              </a:rPr>
              <a:t>Create truthful application materials and rehearse evidence-based interview responses.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Implement and review</a:t>
            </a:r>
          </a:p>
          <a:p>
            <a:pPr algn="l">
              <a:spcAft>
                <a:spcPts val="300"/>
              </a:spcAft>
            </a:pPr>
            <a:r>
              <a:rPr sz="1300" b="0">
                <a:solidFill>
                  <a:srgbClr val="5B6372"/>
                </a:solidFill>
                <a:latin typeface="Arial"/>
              </a:rPr>
              <a:t>Design a client-owned career action plan and review progress using appropriate indicators.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Continue your coaching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Run one small, consent-based coaching pilot.</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Keep an evidence ledger with every AI draft.</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Review action progress with the client after 30 days.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Open the current material links on the course registration page.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for Career Coaching (C431)  ·  C431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